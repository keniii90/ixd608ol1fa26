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19549aee7498d" /><Relationship Type="http://schemas.openxmlformats.org/officeDocument/2006/relationships/extended-properties" Target="/docProps/app.xml" Id="Red2ec9dfd4b04410" /><Relationship Type="http://schemas.openxmlformats.org/officeDocument/2006/relationships/officeDocument" Target="/ppt/presentation.xml" Id="R1b2f5c4836eb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c155c35b84e76"/>
  </p:sldMasterIdLst>
  <p:notesMasterIdLst>
    <p:notesMasterId xmlns:r="http://schemas.openxmlformats.org/officeDocument/2006/relationships" r:id="R39a2712a10da45e9"/>
  </p:notesMasterIdLst>
  <p:sldIdLst>
    <p:sldId xmlns:r="http://schemas.openxmlformats.org/officeDocument/2006/relationships" id="256" r:id="R861bd7a9bf3d45ae"/>
    <p:sldId xmlns:r="http://schemas.openxmlformats.org/officeDocument/2006/relationships" id="257" r:id="R199ac058b69b4ae3"/>
    <p:sldId xmlns:r="http://schemas.openxmlformats.org/officeDocument/2006/relationships" id="258" r:id="R577b71b6df844a23"/>
    <p:sldId xmlns:r="http://schemas.openxmlformats.org/officeDocument/2006/relationships" id="259" r:id="R0efbc76123904bb7"/>
    <p:sldId xmlns:r="http://schemas.openxmlformats.org/officeDocument/2006/relationships" id="260" r:id="Re2bc7fdbd4814cd6"/>
    <p:sldId xmlns:r="http://schemas.openxmlformats.org/officeDocument/2006/relationships" id="261" r:id="R74062636a43a4410"/>
    <p:sldId xmlns:r="http://schemas.openxmlformats.org/officeDocument/2006/relationships" id="262" r:id="R317e9c752857457d"/>
    <p:sldId xmlns:r="http://schemas.openxmlformats.org/officeDocument/2006/relationships" id="263" r:id="Rc814799d604341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61be30dd349e7" /><Relationship Type="http://schemas.openxmlformats.org/officeDocument/2006/relationships/slideMaster" Target="/ppt/slideMasters/slideMaster1.xml" Id="Rdc1c155c35b84e76" /><Relationship Type="http://schemas.openxmlformats.org/officeDocument/2006/relationships/notesMaster" Target="/ppt/notesMasters/notesMaster1.xml" Id="R39a2712a10da45e9" /><Relationship Type="http://schemas.openxmlformats.org/officeDocument/2006/relationships/presProps" Target="/ppt/presProps.xml" Id="Rad331d8cb14948af" /><Relationship Type="http://schemas.openxmlformats.org/officeDocument/2006/relationships/tableStyles" Target="/ppt/tableStyles.xml" Id="R1b9878cc34964a71" /><Relationship Type="http://schemas.openxmlformats.org/officeDocument/2006/relationships/slide" Target="/ppt/slides/slide1.xml" Id="R861bd7a9bf3d45ae" /><Relationship Type="http://schemas.openxmlformats.org/officeDocument/2006/relationships/slide" Target="/ppt/slides/slide2.xml" Id="R199ac058b69b4ae3" /><Relationship Type="http://schemas.openxmlformats.org/officeDocument/2006/relationships/slide" Target="/ppt/slides/slide3.xml" Id="R577b71b6df844a23" /><Relationship Type="http://schemas.openxmlformats.org/officeDocument/2006/relationships/slide" Target="/ppt/slides/slide4.xml" Id="R0efbc76123904bb7" /><Relationship Type="http://schemas.openxmlformats.org/officeDocument/2006/relationships/slide" Target="/ppt/slides/slide5.xml" Id="Re2bc7fdbd4814cd6" /><Relationship Type="http://schemas.openxmlformats.org/officeDocument/2006/relationships/slide" Target="/ppt/slides/slide6.xml" Id="R74062636a43a4410" /><Relationship Type="http://schemas.openxmlformats.org/officeDocument/2006/relationships/slide" Target="/ppt/slides/slide7.xml" Id="R317e9c752857457d" /><Relationship Type="http://schemas.openxmlformats.org/officeDocument/2006/relationships/slide" Target="/ppt/slides/slide8.xml" Id="Rc814799d604341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4c48c9370a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05c1160a345bf" /><Relationship Type="http://schemas.openxmlformats.org/officeDocument/2006/relationships/notesMaster" Target="/ppt/notesMasters/notesMaster1.xml" Id="Reee978afce2c45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746addb564e41" /><Relationship Type="http://schemas.openxmlformats.org/officeDocument/2006/relationships/notesMaster" Target="/ppt/notesMasters/notesMaster1.xml" Id="R7c9e58b8c1ed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a0088878547a6" /><Relationship Type="http://schemas.openxmlformats.org/officeDocument/2006/relationships/notesMaster" Target="/ppt/notesMasters/notesMaster1.xml" Id="R31eb1a3c7ac448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331493fe6f4e7c" /><Relationship Type="http://schemas.openxmlformats.org/officeDocument/2006/relationships/notesMaster" Target="/ppt/notesMasters/notesMaster1.xml" Id="R5a840e7da3ee4a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d0a226ef043a7" /><Relationship Type="http://schemas.openxmlformats.org/officeDocument/2006/relationships/notesMaster" Target="/ppt/notesMasters/notesMaster1.xml" Id="R3182f11d12cf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202d4af84046ab" /><Relationship Type="http://schemas.openxmlformats.org/officeDocument/2006/relationships/notesMaster" Target="/ppt/notesMasters/notesMaster1.xml" Id="R0ebd9e0462ad44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61701755c64117" /><Relationship Type="http://schemas.openxmlformats.org/officeDocument/2006/relationships/notesMaster" Target="/ppt/notesMasters/notesMaster1.xml" Id="R53c1c0bfa850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a7a5af9b04498" /><Relationship Type="http://schemas.openxmlformats.org/officeDocument/2006/relationships/notesMaster" Target="/ppt/notesMasters/notesMaster1.xml" Id="R91530296ef7e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92b7e681d47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774b842e44069" /><Relationship Type="http://schemas.openxmlformats.org/officeDocument/2006/relationships/slideLayout" Target="/ppt/slideLayouts/slideLayout1.xml" Id="R9b47acaab0d140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7acaab0d140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6e31c29dd4400" /><Relationship Type="http://schemas.openxmlformats.org/officeDocument/2006/relationships/notesSlide" Target="/ppt/notesSlides/notesSlide1.xml" Id="Rffc897b326de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13676f874a06" /><Relationship Type="http://schemas.openxmlformats.org/officeDocument/2006/relationships/notesSlide" Target="/ppt/notesSlides/notesSlide2.xml" Id="R875e2d38a23749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afd9c4c240f7" /><Relationship Type="http://schemas.openxmlformats.org/officeDocument/2006/relationships/notesSlide" Target="/ppt/notesSlides/notesSlide3.xml" Id="R8523a0fea43849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94c8571094e5e" /><Relationship Type="http://schemas.openxmlformats.org/officeDocument/2006/relationships/notesSlide" Target="/ppt/notesSlides/notesSlide4.xml" Id="R97633fad90c046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281e6e0624345" /><Relationship Type="http://schemas.openxmlformats.org/officeDocument/2006/relationships/notesSlide" Target="/ppt/notesSlides/notesSlide5.xml" Id="R99761829a9fc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8fb26eb4143b4" /><Relationship Type="http://schemas.openxmlformats.org/officeDocument/2006/relationships/notesSlide" Target="/ppt/notesSlides/notesSlide6.xml" Id="Re42c628d6ffd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e424a75364767" /><Relationship Type="http://schemas.openxmlformats.org/officeDocument/2006/relationships/notesSlide" Target="/ppt/notesSlides/notesSlide7.xml" Id="R8787c335e6af49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304ab028940c7" /><Relationship Type="http://schemas.openxmlformats.org/officeDocument/2006/relationships/notesSlide" Target="/ppt/notesSlides/notesSlide8.xml" Id="R2be73dd0f783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A3082-948A-4572-A6D4-93A620A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85800"/>
            <a:ext cx="2362200" cy="236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6267-3403-47A6-BDFD-18321F3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14425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6F194-A182-4BFE-BA44-D7653757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FED5B-8BF7-486B-9684-5EAA7B1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WEBSITE DESIGN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EF800-7FC8-461D-AF96-826ACD8A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Coffee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5AD8B-AEE3-4547-858E-944E2FA9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EA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3EADF"/>
                </a:solidFill>
                <a:latin typeface="Bitstream Charter"/>
                <a:ea typeface="Bitstream Charter"/>
                <a:cs typeface="Bitstream Charter"/>
              </a:rPr>
              <a:t>A responsive e-commerce experience for discovering, selecting, and purchasing freshly roasted coffee.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7C1C6-620C-4CBE-AFFB-D7F4F43C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9ABE9-24CC-49E5-9075-D745C162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14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rPr>
              <a:t>MIDTERM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12B1-0939-4711-AC67-ACFA5238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Prepared for the Midterm and Final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5F37D-F109-4CDB-B939-ECF816D7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2B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CFC2BB"/>
                </a:solidFill>
                <a:latin typeface="Bitstream Charter"/>
                <a:ea typeface="Bitstream Charter"/>
                <a:cs typeface="Bitstream Charter"/>
              </a:rPr>
              <a:t>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31C23-1115-4020-AD12-283AFD0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33EEE-D8DC-43F9-91D2-2DE85803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EA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3EADF"/>
                </a:solidFill>
                <a:latin typeface="Bitstream Charter"/>
                <a:ea typeface="Bitstream Charter"/>
                <a:cs typeface="Bitstream Charter"/>
              </a:rPr>
              <a:t>Better Coffee, Better Mornings.</a:t>
            </a:r>
          </a:p>
        </p:txBody>
      </p:sp>
    </p:spTree>
    <p:extLst>
      <p:ext uri="{BB962C8B-B14F-4D97-AF65-F5344CB8AC3E}">
        <p14:creationId xmlns:p14="http://schemas.microsoft.com/office/powerpoint/2010/main" val="31328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09E258-90CA-49F4-9049-12430F5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29E43-102B-4B9D-9AAC-125D50F4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01 / PROJECT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785F9-2AEB-4B65-80E5-4EEE88B5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Concept and design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44B3-E1D4-429B-A408-2545323A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The existing landing page expands into a complete responsive store.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923C3-9FB4-4410-AD5D-DAE453B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73DA1-DCC1-4FEB-ABAF-F16E7897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71ABE-F247-413B-A67F-C2463CF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8D429-A76A-4C18-A73C-4C53261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PROJECT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9B31D-5606-4996-B13D-10C4E95A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919EA-3F26-45C3-8C4A-5035A81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Morning Brew Coffee sells fresh small-batch roasts directly to customers. The site guides visitors from brand discovery through checkout.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33C26-F6B8-4451-85BB-12335838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5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1E76F-1B94-40AA-A160-37F05BF9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AUDIENCE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F70ED-690B-4F4E-8BEB-B3C2026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Coffee drinkers who value freshness, simple choices and convenient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59BAC-D82A-4239-B34E-E6A035F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35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83EF3-023C-43AD-8380-730A2901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BUSINESS GOAL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037D6-3F5A-42B4-BAB0-85B2E5D5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Convert first-time visitors with clear products and the 20% welcome offer.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F0E6B-7F56-47C8-BE21-ECD9719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3352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6CBBF-D357-4ADA-B488-731D4D7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USER 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FAD78-42D4-48F3-85C9-DDA9B71D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Compare roasts quickly and complete a purchase without confusion.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5F2F6-EDD1-4130-9E07-F7243F28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VISUAL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39A7B-73D0-4727-8FA3-683A0D4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C1EDB-8F07-4A13-B0E2-867553A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1A17"/>
          </a:solidFill>
          <a:ln xmlns:a="http://schemas.openxmlformats.org/drawingml/2006/main" w="9525">
            <a:solidFill>
              <a:srgbClr val="231A1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A7B83-A313-4C2E-B4CA-7ECD06E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Espresso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BBF37-2BA8-467E-A335-077650C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38625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22727-065A-4AC1-B61A-4957E76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62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Coffee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C3857-BFD1-4E03-8370-1BCD941B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38625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B892"/>
          </a:solidFill>
          <a:ln xmlns:a="http://schemas.openxmlformats.org/drawingml/2006/main" w="9525">
            <a:solidFill>
              <a:srgbClr val="D9B89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6C20A-675C-4086-99BF-16F787B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Latte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6D32B-67A5-4F80-A69F-16A358E7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F3EA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EF8B7-7D1C-4534-BE66-3C3F517B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62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Cream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AF414-0201-4333-905C-1A76187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38625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0624B"/>
          </a:solidFill>
          <a:ln xmlns:a="http://schemas.openxmlformats.org/drawingml/2006/main" w="9525">
            <a:solidFill>
              <a:srgbClr val="50624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2E7A8-602C-4CAB-9A16-F9F32CD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62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Leaf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7E4B71-F37D-431C-8DDE-91C1C98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GRID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59F81F-A122-4BEF-8F17-ABFEEA6C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D2C082-FBD7-4F8B-BEC7-3BFB4DF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Desktop: 12 columns / 24px gap     Tablet: 8 columns     Mobile: 4 columns / 16px gap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51A084-9348-4C89-907D-9AB5B189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54DB1-9437-4C89-A677-F7EB3F0A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CEFA8-B4DA-46EB-BBAA-514BF29E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D4DA4A-83D0-45DC-B2A6-560D88F5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F6A226-AEC3-4783-BCC3-BDAF9041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A2C98D-163F-4DCA-A42A-3B36377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10BE46-AA7D-4009-96AD-4D153ECD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F57F42-0CC2-4218-BAA5-124F7644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8D0CA8-1DD6-41E0-B333-181597B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CDAB04-922A-42B4-B78D-BE1BDB2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D26B2C-4BAC-43ED-AB49-316986E1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F6F60D-37B3-4DF4-9EE6-1E6A5FE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953125"/>
            <a:ext cx="666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4C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3415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DE4612-A7EC-408F-8205-F680216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DC6AC-8448-4E6F-A8F1-C35248FA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02 / REQUIRED PAGE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1494F-03B0-4F44-9798-F2BC30A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Landing / Advertisement / 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9FF8-1053-42E0-BD6F-CB7FB5EE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Brand introduction and the primary path into the shop.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686A6-6D6E-4E05-95F6-EAE76C9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3AFBF-9940-4309-A643-70E9BCBD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EB69B-4CDA-4C3C-8B78-EC86F263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94141-ECCF-4C16-A641-8FC28636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4BFA9-626F-4921-BEC8-870E6524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02E39-E4FD-458F-8181-0A69DE3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Introduce the brand, advertise the welcome discount and direct visitors toward featured products.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EC867-C08F-4E5E-842A-E2651949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0E915-3823-4330-A1A0-8E350AEA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E0F77-507A-4C2C-A341-443E04EC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FEC16-6811-4AA4-9880-29C345DF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Hero headline, supporting copy and a prominent Shop Now button.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37E97-4D21-44BF-85B6-5FE95DE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66FA1-AEBB-4F5C-945F-8CEC9926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Featured roast cards, WELCOME20 promotion, brand story and newsletter.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FAF79-1179-476A-A675-2E49D6A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362AF-67BA-403B-B908-B1FA578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Navigation connects Home, Shop, About, Contact and Cart.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BA4A1-DB07-4B4A-8B20-5DD5C8F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5FAA9-99E4-4B01-A704-2C7C798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ADCFF-5318-410A-8841-4150A6C0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Hero text spans 7 columns and the visual spans 5. Featured products use three equal 4-column cards.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FC0CE-2135-4929-BCE0-53F08716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4A531-5283-4205-B74F-5A82344D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5B447-E768-41F3-BA16-BB319C3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Tablet balances the hero in two columns. Mobile stacks all content and uses full-width actions.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A5C6A-2F5A-45FE-A4D2-D68CAE6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76185-96DC-4461-A2E3-4542469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CB1E2-DCE3-4D49-8DB9-672FF80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84853-6BC5-47C8-BD1A-529BDC1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F6D44-A822-4096-9B99-50B3573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C8D839-3AC5-45D9-BF76-E3ECD0E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163ED-8580-4E69-BBFF-587E808D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3718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9B892"/>
          </a:solidFill>
          <a:ln xmlns:a="http://schemas.openxmlformats.org/drawingml/2006/main" w="9525">
            <a:solidFill>
              <a:srgbClr val="D9B89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849BE-6E5E-4A4B-AEBB-07F809E4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rPr>
              <a:t>BETTER COFFEE,</a:t>
            </a:r>
          </a:p>
          <a:p xmlns:a="http://schemas.openxmlformats.org/drawingml/2006/main">
            <a:pPr algn="l">
              <a:defRPr sz="14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231A17"/>
                </a:solidFill>
                <a:latin typeface="Bitstream Charter"/>
                <a:ea typeface="Bitstream Charter"/>
                <a:cs typeface="Bitstream Charter"/>
              </a:rPr>
              <a:t>BETTER MORNINGS.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E73697-6309-4037-B79D-F51206CF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2AEC65-6718-4711-86C6-F358C00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05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NOW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30F5B2-68D8-4F47-8A39-01E311E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FEATURED COFFEE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8B62C2-58DA-46AD-8411-6AEADBEF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1009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152159-70BA-41DC-BB76-9370BBC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76650"/>
            <a:ext cx="1009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09BFF3-CC01-4178-B205-C1BAA83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76650"/>
            <a:ext cx="10096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9ED8A0-D338-41C3-92F8-0E2F900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371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EB041D-D987-4557-A190-43F78F26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339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20% OFF FIRST ORDER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CD37C-AF67-47E0-806D-65FC493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38E229-8091-45E5-8B28-EB55C271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197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D6CDC5"/>
            </a:solidFill>
          </a:ln>
        </p:spPr>
      </p:sp>
    </p:spTree>
    <p:extLst>
      <p:ext uri="{BB962C8B-B14F-4D97-AF65-F5344CB8AC3E}">
        <p14:creationId xmlns:p14="http://schemas.microsoft.com/office/powerpoint/2010/main" val="1646811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300F0D-9B58-47D9-8F42-7406825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F4AA9-1AB7-48E3-92D0-C45A7BA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03 / REQUIRED PAGE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0776F-CCD1-49B3-BC55-7B9D643E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67C60-909C-4AF7-952F-80CF7387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A catalog with practical sorting and filtering.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E5A2A-8847-4D0E-A70B-34CE3618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90C83-23A9-4A8C-8430-C469483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49500-5D1B-4F69-8C4F-7174384D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E74BE-C8DA-4903-B589-FF3CEA66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AB5CC-72D5-4730-B934-25CEB43D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7EC9D-82BD-4A8F-AC06-2ADB34BB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Help shoppers scan the coffee selection, narrow choices and open a product for more detail.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A7AC7-6322-458F-93A1-584A965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9D6AD-30B6-45D3-8BCD-D5A184F1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D4EFA-03B0-43A7-9B95-39177924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12090-63F0-486B-A934-8BDADB3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Cards show image, roast name, tasting notes, roast level and price.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60100-183D-4570-8E00-64879B0D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D6190-9095-4BE2-B614-8B1CB110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Filters cover roast level, origin and price; sorting changes result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06B9A-AB08-4151-B693-8B93827F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3E6E7-DDD1-42C5-B33B-6075B5B9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Results count and active filters keep the catalog understandable.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9559-246E-4AF7-BB09-A72DB09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98830-2EC4-462C-9CB0-1BD668C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AE9E6-764A-44BE-8481-0819825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Filters span 3 columns beside a 9-column results area. Cards use three equal spans inside the results grid.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54C38-6ABC-48B3-899D-3DCABFCB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1D602-A238-4980-AF39-C68E85C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7F800-ED9B-43EB-B655-2B541CB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Tablet shows two cards per row. Mobile moves filters into a collapsible control and shows one product per row.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C9536-0225-4F5A-AE5F-8134B845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1157C-B74E-4332-9292-5D3288A3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2FF3B-4DBA-4348-B9F5-E3EC4DA1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2D7C3-42FD-4E2A-8856-4A7AC85B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477F9-57BE-4F72-921C-50953731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A547B-44F9-4E73-A5B7-58CADB22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2BC42-4CBF-4654-96CE-6C571F47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SHOP COFFEE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119EF-7B13-443D-AC2A-BDCEA05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14600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385F3-78CF-4D6B-A933-BC5D2F2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3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FILTERS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4475C-EC14-4BC9-AF05-C0869A72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F5B73-0ED5-4A75-B07B-D34F1C50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43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SORT: FEATURED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311E8-BD64-4668-8978-A4B2CD0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FF9262-0353-405D-AE3F-6302F36C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86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0D53DD-A940-4B84-B1F4-2888C3F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ETHIOPIA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A0777-B8D2-43CB-B443-571EF375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6B0C9A-C4E0-4D98-A047-23A925C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AB5711-C555-4C32-9F48-CB59C0BC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86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B2125A-F86C-4E04-9965-96B81DB5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43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COLOMBIA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215F0-6EB8-4A22-A9AC-EBFA9C3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FC7CB4-3387-48A1-9701-6D684079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517416-5508-4F2A-A566-7A886773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86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973579-407B-48E6-AE5C-138A7587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43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ESPRESSO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E9CF64-BBAB-405F-967B-EC105AAD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528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6A345A-01FA-41DD-96F2-691AE69B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00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3FF666-23CA-4B67-BE94-5C2EDDF9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43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2380B4-0098-411E-B7DD-B0F8043B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00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ETHIOPIA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27CDF8-3A70-4096-9933-C7B67673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10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85F0D-BFBB-4871-ABFF-D5333F4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0F428C-2B72-4394-B02D-F0B5C325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43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645C3B-688D-4FAD-BAB2-4C16BC7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00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COLOMBIA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75C844-E995-45BA-8149-0E43CBB0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10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9B4458-D93B-47E8-9F61-D6CD223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009650" cy="11049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62869A-3F18-4F1A-8A20-496DCAC6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43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73DC32-D45B-406A-8C95-CD89A81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00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ESPRESSO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26D231-F2C5-4F96-98B0-C991ACFE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10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ROAST   $18</a:t>
            </a:r>
          </a:p>
        </p:txBody>
      </p:sp>
    </p:spTree>
    <p:extLst>
      <p:ext uri="{BB962C8B-B14F-4D97-AF65-F5344CB8AC3E}">
        <p14:creationId xmlns:p14="http://schemas.microsoft.com/office/powerpoint/2010/main" val="923816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872F47-F639-4832-9073-351C0897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291A8-9DF7-42C9-9471-0776F39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04 / REQUIRED PAGE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AD23E-8460-4C2A-8102-BF2F8A56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 Individual Item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F52CD-166F-4D5C-86F8-F686FAC9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Product information and a clear add-to-cart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E3470-617D-44C8-96CF-173F8FD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D26BB-EDA5-464F-AB5A-EF348C1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27152-41B7-42A3-B953-BEFD236B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BD55B-3A21-4BE1-8817-C4125C6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59936-747B-4170-9FC6-260D7F42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1826D-E3FC-4D95-827D-B33A917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Answer product questions and let the customer choose options before adding the item to the cart.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BDB67-FDD6-4346-B902-2635B20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363DE-0BDD-4FDE-AB49-AF98154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7EE26-2397-4F85-9EEC-F4A14E1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9CA81-FD49-47EC-94EC-EE275E88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Large product image, price, tasting notes, origin and freshness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9C6F9-7847-40B0-9F92-04CECFB8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DE040-82F0-4272-8D16-0024C68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Selectors for bag size, grind type and quantity with Add to Cart.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2A5A9-02FD-44A6-B8F1-72E1D51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EDAF1-66B4-4C1E-807D-12B304B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Related products support continued browsing.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50BCE-E104-458F-816A-3B32FF46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B2930-1DC6-434A-A9C1-DC137743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82B91-C695-4FE0-B873-C8DEA50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The gallery spans 7 columns and purchase information spans 5. Details use the full width below.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8E01C-AD39-4DA5-B745-7844C971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6D919-B811-48B4-9179-ECEA8EF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91811-9661-4F8A-B0BF-BD970836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The detail columns stack on mobile with the image first. Selectors and the main button become full width.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B690E-A4C0-4C6A-BA42-5524444E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EF430-A844-49D9-9D5B-B06F518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63361-41FC-4BE5-ADAF-A85C654F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3266F-B91E-45DE-B9E8-499BCB76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F83C7-6F8A-4F04-861B-8241C7D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4F3B9-9A72-4CB2-BE4D-21AD2E5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0E92D-B023-4414-A501-4978CB2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FD0FE-2208-4009-8F1B-DF6609C8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ETHIOPIA</a:t>
            </a:r>
          </a:p>
          <a:p xmlns:a="http://schemas.openxmlformats.org/drawingml/2006/main">
            <a:pPr algn="l">
              <a:defRPr sz="11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LIGHT ROAST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BC8D5-9899-4623-BDF9-BDF11863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Bright  /  Fruity  /  Smooth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8EF60-09FA-40A8-A988-DBF3C9E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$18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7D9495-BA04-493F-AA33-F191763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Floral aroma with citrus notes and a clean finish.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47C473-9A95-48DD-903A-B6175261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125D9B-568D-4686-BA5E-30892B13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81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ADD TO CART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2DE8D1-968D-4875-B7CF-BAB2818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DBD6DD-C84C-43BA-919A-9B331B0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ROAST DETAILS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103552-C1E9-4A2B-B8EA-732F30A0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24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Origin / Process / Size / Grind</a:t>
            </a:r>
          </a:p>
        </p:txBody>
      </p:sp>
    </p:spTree>
    <p:extLst>
      <p:ext uri="{BB962C8B-B14F-4D97-AF65-F5344CB8AC3E}">
        <p14:creationId xmlns:p14="http://schemas.microsoft.com/office/powerpoint/2010/main" val="634830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69AF95-DA8D-4A80-849C-3B69FB2B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FD20-763B-4798-A0D3-1392444D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05 / REQUIRED PAGE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74113-D888-4E04-B7F1-548BED1D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032D0-60D4-44E5-8739-56FDD1BE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A transparent review before checkout.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3B697-65A1-4686-81C2-8C13D10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FD723-CDBB-4E64-B05B-84C6ECDE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04EBC-1FCC-4DE9-8386-5FFBBD6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73CC0-7F85-42C3-87E6-93045FB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50A0E-F854-4F42-8232-39183350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14D69-217A-4956-9558-C9392410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Let shoppers verify items, quantities, costs and promotions before entering checkout.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0298B-0153-4110-A47A-168F1DE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82F89-0506-4CD4-8C0D-A7DFFFF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BE717-B31A-4A16-8034-67E254C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8187A-FE1F-47B6-8527-0C78FF1A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Editable rows include options, unit price, quantity, remove action and line total.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FE13C-A838-4329-A161-4BD18311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1D00E-A74C-4683-85EC-FD4B5265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Summary shows subtotal, discount, shipping and the estimated total.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1E588-2F5D-45CC-BC93-C6A7F8A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03A91-43B0-4F6E-8B7E-55FE33F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Promo code, Continue Shopping and Checkout actions complete the page.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0617B-E9BD-456C-A67B-B427FEF0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A50C1-1A03-4FF7-8F8D-99CF511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05C95-A6C1-4C99-B8F9-98AF7AF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Cart items occupy 8 columns while the sticky order summary occupies 4 columns.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0B5DF-ED15-4BC7-A1C9-3B76163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DFCD1-0E32-43A3-9BB4-220D7712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CACC9-D1B7-453D-98F9-3A3C947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Mobile stacks the summary below item cards and makes Checkout a full-width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513B6-69DF-410D-96B8-44D8E958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4C320-A57E-48BF-BF0D-EE5049D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7F7A8-5856-44A3-85A8-C0DAFDB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EC4A60-1615-4690-9E67-24DB349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932CC-39C1-4EA1-B281-06099B6C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8192D-E323-411C-AECE-8887F2EB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7C11E-23AD-4380-8BD1-B0E4831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YOUR CART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D13B7-180F-4E7C-9C4B-5686566E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908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960B5F-28E1-4611-B17B-159F861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9FC3C-63B3-405D-BAF4-BBBF8E2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COFFEE ROAST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F4BC9C-BE93-4837-8669-FE7EE9FE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Qty   -   1   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2672F6-6BB7-4295-867B-8FE8BC6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7BF1A-FF4C-49E3-987D-49C5CDDB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71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AD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FF64C-4C0C-4EF3-B54F-D2A492E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COFFEE ROAST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DE2BD0-74BD-4BEB-BE86-443427D6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Qty   -   1   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A4BE2E-C89C-4912-AD6A-76EE147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1104900" cy="15049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A18E42-ADDD-4DA2-990C-31444506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B56199-3AB2-4B57-BAFC-C61C048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0037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Subtotal</a:t>
            </a:r>
          </a:p>
          <a:p xmlns:a="http://schemas.openxmlformats.org/drawingml/2006/main">
            <a:pPr algn="l">
              <a:def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Shipping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TOTAL  $34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B074EF-1EC7-40F9-997D-CC7F4E0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911016-5DC3-41E0-BE02-A23C58D2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743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8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CHECKOUT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7BB75D-57DE-46E7-9E1B-FC912A22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3333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C9821F-BEBD-4E52-890E-E3252112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62475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PROMO CODE                         APPLY</a:t>
            </a:r>
          </a:p>
        </p:txBody>
      </p:sp>
    </p:spTree>
    <p:extLst>
      <p:ext uri="{BB962C8B-B14F-4D97-AF65-F5344CB8AC3E}">
        <p14:creationId xmlns:p14="http://schemas.microsoft.com/office/powerpoint/2010/main" val="1902791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B69A1A-AA03-402F-B2A5-9D7AD95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CB283-3AC6-4334-8752-0A3B6181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06 / REQUIRED PAGE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EBFF0-3E70-405A-BF9E-A14FDA2F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Cart Checkout / Purchase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75C6F-18C7-40BE-9F32-9D27E156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A short form for delivery and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DA09-8EAB-4C25-98BA-1E3858A8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308AE-78FE-46C0-9F77-6361C56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9D387-CEB0-42DA-8AB8-FE3CC6DE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94429-C9C1-4BF6-B959-386E5E91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E230D-4D72-4FB9-8071-4D824B29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79360-1235-4D12-9C6E-A70DFA62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Collect the information needed to deliver the order and complete payment securely.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A700A-1FBD-489B-9130-D863C8A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C70A5-E981-40F2-9F7F-7112C65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F9A3F-28A3-4258-8570-C5DB740D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05595-1305-43CE-942F-6B06462A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Contact, shipping, delivery and payment sections use clear labels.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13330-0B9C-49B4-8E68-DF3F068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7E33E-A440-45FE-9F92-6677706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Inline validation explains errors and preserves previously entered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09519-90AF-4798-99D9-A5AA14F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191E8-1F3E-43D0-9A3A-665D42E6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Order summary, security note and Place Order action build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325CC-C7CE-4A62-8742-0D7185D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88EDB-1925-455B-A211-C058256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68381-8FB5-44A0-B9D6-6E6A228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The checkout form spans 7 columns and the sticky order summary spans 5 columns.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D6B5E-9DD2-433C-808F-EDD9487C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AA336-1719-4EAD-A605-04779196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CE931-0B9E-4F31-B012-957290C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Mobile stacks every field in a logical order and keeps the final payment action prominent.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A6729-3F47-454D-9DF9-A7A06AB8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64AA7-F335-4EE7-8D4F-4C3A14A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514B1-459F-4707-937A-A1412932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6C9FDF-2980-4C63-BE5E-F3DC744E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7745FC-8CA0-482A-BA39-E469EFF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F3EB1-FB68-4B63-B404-DA4DC4C6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2F038-9324-4493-8DD1-2893C86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CHECKOUT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EF570-575F-45D1-AB83-F9163D3C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1 CART     2 INFORMATION     3 PAYMENT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D01BB-D425-49DA-8AF0-65E8A37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9DC2C-8C05-4BC5-8B62-B8F46355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EMAIL ADDRESS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3BA6F-71A2-41BE-9FB8-7A87CEA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6488A3-095E-4156-B56C-08AFD77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STREET ADDRESS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96377-5954-4BA3-88C2-121967B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09B77D-71E3-4A0A-997E-DCA8016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857EF9-E47E-47A4-A523-DDAB1A0D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2038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91538E-B720-4097-896E-730718B4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339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CARD NUMBER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9A8C9F-9F3E-4A8B-BB1F-FFD91437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C6BB1-090E-41BE-9354-52327D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3860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F543A5-5DB3-4A42-8820-7957CF7F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2811CB-777D-4E8C-ADF8-1705EFEA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14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ZIP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7ACEE4-6B85-4267-AC77-F2EF7B9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1733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2628B4-786E-48E6-84BD-43297EB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241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ORDER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4573FF-078A-472D-A904-5DD8308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385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2 items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Total  $34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2C901D-2D69-4175-84CE-4779D72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2B51EA-C539-48C6-BCE9-9CD5F8E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48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PAY NOW</a:t>
            </a:r>
          </a:p>
        </p:txBody>
      </p:sp>
    </p:spTree>
    <p:extLst>
      <p:ext uri="{BB962C8B-B14F-4D97-AF65-F5344CB8AC3E}">
        <p14:creationId xmlns:p14="http://schemas.microsoft.com/office/powerpoint/2010/main" val="1815961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A47FAF-BE2A-4D13-977D-F558F9EE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A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BE31A-377C-49F8-9583-A8F8A29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D9B892"/>
                </a:solidFill>
                <a:latin typeface="Bitstream Charter"/>
                <a:ea typeface="Bitstream Charter"/>
                <a:cs typeface="Bitstream Charter"/>
              </a:rPr>
              <a:t>07 / REQUIRED PAGE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E292E-AE4B-49FC-AC34-847DC37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Purchase Confirmation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A2163-53BF-44F9-BFA9-92B5B672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D8CEC9"/>
                </a:solidFill>
                <a:latin typeface="Bitstream Charter"/>
                <a:ea typeface="Bitstream Charter"/>
                <a:cs typeface="Bitstream Charter"/>
              </a:rPr>
              <a:t>A clear success state with order details and next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CB858-915A-492B-B90E-41752D9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6530E-C762-449F-9D32-E69117F6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MORNING BREW COFFEE  /  MIDTERM + FINAL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07E98-BB06-4E09-805E-8804D272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F02B-A077-4D98-9545-BDDC8EB1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PAGE 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6DD53-C301-464E-B78A-1B7CB17B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883B6-D0BE-4404-8F60-CFCCDF0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Confirm that payment succeeded, reduce uncertainty and explain what happens next.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24DA7-05DA-4644-8961-9F6079F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KEY CONTENT AND INTERACTIONS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CFAE3-3B9B-4D8F-9FB1-C24F860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F1640-7DAC-42E5-823F-29E1B974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E4BC2-843A-4692-B1E4-6ADEE8D5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Success message, order number, confirmation email and delivery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4B3F9-3DD1-4C37-B94A-5024AFC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7360A-8E32-4215-B9DC-855A1A76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Order summary includes items, shipping destination, total and support link.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CC489-92C4-4047-A84D-A33FF005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D87D0-F0A1-4D14-883E-3DC6F10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584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Continue Shopping and Create Account actions support the next visit.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55088-1114-40AB-9A96-318E1DC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GRID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2D707-3378-4BC6-A6C5-D7CEED23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E6BED-ABC3-4F20-8CC2-0A462A6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The success message uses a centered 8-column area. Details sit in two 6-column panels below.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EEA8E-F60B-411F-8F3B-E7607D6B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RESPONSIVE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54F80-A71C-4E2D-8348-BBBA22F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89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0F3CD-45C6-4E22-8223-0CDB7C24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292421"/>
                </a:solidFill>
                <a:latin typeface="Bitstream Charter"/>
                <a:ea typeface="Bitstream Charter"/>
                <a:cs typeface="Bitstream Charter"/>
              </a:rPr>
              <a:t>Mobile stacks confirmation details into cards and keeps the order number easy to copy.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EEF20-78EF-4B05-B256-58A4F23A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45148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A2F2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50321-9A29-4F0C-AF1E-6A025FC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F12F0-2EF8-4A66-A699-D511BC5E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38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MORNING BREW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8F76A-360B-4B03-BE0E-4E1D72A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383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SHOP     CART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BEE45-A098-4DA6-AB31-B945DE17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181100"/>
            <a:ext cx="1238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31FE4-4736-4633-92C1-F44D11A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096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2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EDITABLE WIREFRAME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610AF-7DF9-4828-A89A-86AAB022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624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0B8DD-5F63-4A29-B0D3-A2ADF59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A1952D-0193-44AB-B31E-C1715508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71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THANK YOU!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A9C97-39C9-4B2C-B400-3974958D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Order #MB-2048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877A5-4456-4921-9D26-1B9D53D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71900"/>
            <a:ext cx="2914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D6CDC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FBA733-ED54-4B0C-BDCB-92C3FF7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4A2F24"/>
                </a:solidFill>
                <a:latin typeface="Bitstream Charter"/>
                <a:ea typeface="Bitstream Charter"/>
                <a:cs typeface="Bitstream Charter"/>
              </a:rPr>
              <a:t>ORDER SUMMARY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50594C-2D43-446A-8E92-DCFC8D4A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Ethiopia Light Roast x 1</a:t>
            </a:r>
          </a:p>
          <a:p xmlns:a="http://schemas.openxmlformats.org/drawingml/2006/main">
            <a:pPr algn="l">
              <a:def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746B65"/>
                </a:solidFill>
                <a:latin typeface="Bitstream Charter"/>
                <a:ea typeface="Bitstream Charter"/>
                <a:cs typeface="Bitstream Charter"/>
              </a:rPr>
              <a:t>Espresso Blend x 1          Total $34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7F2631-717C-4C4E-847D-DC469CA1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86350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2F24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0F1ADE-78E3-4E0B-85B7-2FFEA5A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149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CONTINUE SHOPPING</a:t>
            </a:r>
          </a:p>
        </p:txBody>
      </p:sp>
    </p:spTree>
    <p:extLst>
      <p:ext uri="{BB962C8B-B14F-4D97-AF65-F5344CB8AC3E}">
        <p14:creationId xmlns:p14="http://schemas.microsoft.com/office/powerpoint/2010/main" val="109936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2026-09-22T21:36:33.1440000Z</dcterms:created>
  <dcterms:modified xsi:type="dcterms:W3CDTF">2026-09-22T21:36:33.1440000Z</dcterms:modified>
</coreProperties>
</file>